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eenaTharshini/Trust_Wipe_Forensic_Recovery" TargetMode="External"/><Relationship Id="rId4" Type="http://schemas.openxmlformats.org/officeDocument/2006/relationships/hyperlink" Target="https://trust-wipe-forensic-recovery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WIPE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948114"/>
            <a:ext cx="65236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dirty="0"/>
              <a:t>Problem Statement ID – </a:t>
            </a:r>
            <a:r>
              <a:rPr lang="en-IN" sz="2800" dirty="0"/>
              <a:t>SIH26149</a:t>
            </a:r>
            <a:br>
              <a:rPr sz="2800" b="1" dirty="0"/>
            </a:br>
            <a:r>
              <a:rPr sz="2800" b="1" dirty="0"/>
              <a:t>Problem Statement Title </a:t>
            </a:r>
            <a:r>
              <a:rPr sz="2800" dirty="0"/>
              <a:t>- </a:t>
            </a:r>
            <a:r>
              <a:rPr lang="en-US" sz="2800" dirty="0"/>
              <a:t>Design and Development of an Integrated Secure Data Erasure and Advanced File Recovery Tool for Digital Forensics and Data Sanitization Software</a:t>
            </a:r>
            <a:br>
              <a:rPr sz="2800" dirty="0"/>
            </a:br>
            <a:r>
              <a:rPr sz="2800" b="1" dirty="0"/>
              <a:t>Theme </a:t>
            </a:r>
            <a:r>
              <a:rPr sz="2800" dirty="0"/>
              <a:t>– Blockchain &amp; Cybersecurity</a:t>
            </a:r>
            <a:br>
              <a:rPr sz="2800" dirty="0"/>
            </a:br>
            <a:r>
              <a:rPr sz="2800" b="1" dirty="0"/>
              <a:t>PS Category </a:t>
            </a:r>
            <a:r>
              <a:rPr sz="2800" dirty="0"/>
              <a:t>- Software</a:t>
            </a:r>
            <a:br>
              <a:rPr sz="2800" dirty="0"/>
            </a:br>
            <a:r>
              <a:rPr sz="2800" b="1" dirty="0"/>
              <a:t>Team Name </a:t>
            </a:r>
            <a:r>
              <a:rPr sz="2800" dirty="0"/>
              <a:t>- </a:t>
            </a:r>
            <a:r>
              <a:rPr sz="2800" dirty="0" err="1"/>
              <a:t>Innovatrix</a:t>
            </a:r>
            <a:endParaRPr lang="en-US" sz="2800" dirty="0"/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09011" y="128336"/>
            <a:ext cx="7932356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WIPE – </a:t>
            </a:r>
            <a:r>
              <a:rPr lang="en-IN" sz="2800" b="1" dirty="0"/>
              <a:t>INTEGRATED SECURE DATA ERASURE &amp; ADVANCED FILE RECOVERY TOOL FOR DIGITAL FORENSICS AND DATA SANITIZATION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9769" y="1460500"/>
            <a:ext cx="76298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PROPOSED SOLUTION</a:t>
            </a:r>
            <a:br>
              <a:rPr sz="2000" dirty="0"/>
            </a:br>
            <a:r>
              <a:rPr lang="en-IN" sz="2000" dirty="0" err="1"/>
              <a:t>TrustWipe</a:t>
            </a:r>
            <a:r>
              <a:rPr lang="en-IN" sz="2000" dirty="0"/>
              <a:t> unifies secure data sanitization and digital forensics into one verifiable workflow.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1400" b="1" dirty="0">
                <a:solidFill>
                  <a:schemeClr val="bg1"/>
                </a:solidFill>
              </a:rPr>
              <a:t>Team </a:t>
            </a:r>
            <a:r>
              <a:rPr sz="1400" b="1" dirty="0" err="1">
                <a:solidFill>
                  <a:schemeClr val="bg1"/>
                </a:solidFill>
              </a:rPr>
              <a:t>Innovatrix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2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Innovatrix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4736FE-801D-FB60-F8BE-B7D7E4AB5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765718"/>
              </p:ext>
            </p:extLst>
          </p:nvPr>
        </p:nvGraphicFramePr>
        <p:xfrm>
          <a:off x="8582526" y="1983730"/>
          <a:ext cx="3467960" cy="354976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7864">
                  <a:extLst>
                    <a:ext uri="{9D8B030D-6E8A-4147-A177-3AD203B41FA5}">
                      <a16:colId xmlns:a16="http://schemas.microsoft.com/office/drawing/2014/main" val="107102885"/>
                    </a:ext>
                  </a:extLst>
                </a:gridCol>
                <a:gridCol w="1560096">
                  <a:extLst>
                    <a:ext uri="{9D8B030D-6E8A-4147-A177-3AD203B41FA5}">
                      <a16:colId xmlns:a16="http://schemas.microsoft.com/office/drawing/2014/main" val="273321340"/>
                    </a:ext>
                  </a:extLst>
                </a:gridCol>
              </a:tblGrid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Frontend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React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72399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Backend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Node.js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420978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Database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MongoDB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963294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Authentication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JWT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59577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Cryptography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SHA-256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745792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Signature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RSA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99233"/>
                  </a:ext>
                </a:extLst>
              </a:tr>
              <a:tr h="5071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Communication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Socket.IO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640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323504-D02D-3E37-9E1C-7F5CB08D5834}"/>
              </a:ext>
            </a:extLst>
          </p:cNvPr>
          <p:cNvSpPr txBox="1"/>
          <p:nvPr/>
        </p:nvSpPr>
        <p:spPr>
          <a:xfrm>
            <a:off x="8445703" y="1444868"/>
            <a:ext cx="16447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/>
            </a:pPr>
            <a:r>
              <a:rPr lang="en-US" sz="2000" b="1" dirty="0"/>
              <a:t>T</a:t>
            </a:r>
            <a:r>
              <a:rPr lang="en-IN" sz="2000" b="1" dirty="0"/>
              <a:t>ECH STACK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C181F6-FE37-F967-ABA5-10291E49BCF0}"/>
              </a:ext>
            </a:extLst>
          </p:cNvPr>
          <p:cNvSpPr txBox="1"/>
          <p:nvPr/>
        </p:nvSpPr>
        <p:spPr>
          <a:xfrm>
            <a:off x="599769" y="2556219"/>
            <a:ext cx="2207599" cy="2862322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SECURE WIPE</a:t>
            </a:r>
            <a:endParaRPr lang="en-IN" dirty="0"/>
          </a:p>
          <a:p>
            <a:pPr lvl="0"/>
            <a:r>
              <a:rPr lang="en-IN" dirty="0"/>
              <a:t>Device discovery &amp; target selection </a:t>
            </a:r>
          </a:p>
          <a:p>
            <a:pPr lvl="0"/>
            <a:r>
              <a:rPr lang="en-IN" dirty="0"/>
              <a:t>Multi-pass file sanitization </a:t>
            </a:r>
          </a:p>
          <a:p>
            <a:pPr lvl="0"/>
            <a:r>
              <a:rPr lang="en-IN" dirty="0"/>
              <a:t>Real-time progress monitoring </a:t>
            </a:r>
          </a:p>
          <a:p>
            <a:pPr lvl="0"/>
            <a:r>
              <a:rPr lang="en-IN" dirty="0"/>
              <a:t>SHA-256 verification </a:t>
            </a:r>
          </a:p>
          <a:p>
            <a:pPr lvl="0"/>
            <a:r>
              <a:rPr lang="en-IN" dirty="0"/>
              <a:t>RSA certificate + QR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6A33C-982B-61C0-1130-7991DCD9F26D}"/>
              </a:ext>
            </a:extLst>
          </p:cNvPr>
          <p:cNvSpPr txBox="1"/>
          <p:nvPr/>
        </p:nvSpPr>
        <p:spPr>
          <a:xfrm>
            <a:off x="3160294" y="2564757"/>
            <a:ext cx="2358189" cy="2862322"/>
          </a:xfrm>
          <a:prstGeom prst="rect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FORENSIC RECOVERY</a:t>
            </a:r>
            <a:endParaRPr lang="en-IN" dirty="0"/>
          </a:p>
          <a:p>
            <a:pPr lvl="0"/>
            <a:r>
              <a:rPr lang="en-IN" dirty="0"/>
              <a:t>Evidence acquisition &amp; hashing </a:t>
            </a:r>
          </a:p>
          <a:p>
            <a:pPr lvl="0"/>
            <a:r>
              <a:rPr lang="en-IN" dirty="0"/>
              <a:t>Metadata / filesystem scanning </a:t>
            </a:r>
          </a:p>
          <a:p>
            <a:pPr lvl="0"/>
            <a:r>
              <a:rPr lang="en-IN" dirty="0"/>
              <a:t>Signature-based file carving </a:t>
            </a:r>
          </a:p>
          <a:p>
            <a:pPr lvl="0"/>
            <a:r>
              <a:rPr lang="en-IN" dirty="0"/>
              <a:t>Deleted-file recovery </a:t>
            </a:r>
          </a:p>
          <a:p>
            <a:pPr lvl="0"/>
            <a:r>
              <a:rPr lang="en-IN" dirty="0"/>
              <a:t>Chain of custody &amp; forensic reports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B6BF0-0598-8EE1-F8FB-0BDDE2D175C2}"/>
              </a:ext>
            </a:extLst>
          </p:cNvPr>
          <p:cNvSpPr txBox="1"/>
          <p:nvPr/>
        </p:nvSpPr>
        <p:spPr>
          <a:xfrm>
            <a:off x="5871411" y="2564757"/>
            <a:ext cx="2358189" cy="2862322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AUDIT &amp; COMPLIANCE</a:t>
            </a:r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	MongoDB audit records </a:t>
            </a:r>
          </a:p>
          <a:p>
            <a:pPr lvl="0"/>
            <a:r>
              <a:rPr lang="en-IN" dirty="0"/>
              <a:t>	PDF / Excel / compliance reports</a:t>
            </a:r>
          </a:p>
          <a:p>
            <a:pPr lvl="0"/>
            <a:r>
              <a:rPr lang="en-IN" dirty="0"/>
              <a:t>	Used for Auditing and Proof purpose for the organizations</a:t>
            </a:r>
          </a:p>
          <a:p>
            <a:pPr lvl="0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A8096-EC3A-6E06-D419-65465D084BD8}"/>
              </a:ext>
            </a:extLst>
          </p:cNvPr>
          <p:cNvSpPr txBox="1"/>
          <p:nvPr/>
        </p:nvSpPr>
        <p:spPr>
          <a:xfrm>
            <a:off x="586203" y="5492357"/>
            <a:ext cx="1134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INNOVATION</a:t>
            </a:r>
          </a:p>
          <a:p>
            <a:r>
              <a:rPr lang="en-IN" dirty="0"/>
              <a:t>One platform to securely erase data, recover deleted evidence, and cryptographically prove every critical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Team </a:t>
            </a:r>
            <a:r>
              <a:rPr lang="en-US" sz="1400" dirty="0" err="1">
                <a:solidFill>
                  <a:schemeClr val="bg1"/>
                </a:solidFill>
              </a:rPr>
              <a:t>Innovatrix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249548" y="2744261"/>
            <a:ext cx="540399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/>
            </a:pPr>
            <a:r>
              <a:rPr sz="2000" b="1" dirty="0"/>
              <a:t>SYSTEM FLOW</a:t>
            </a:r>
          </a:p>
          <a:p>
            <a:pPr>
              <a:spcAft>
                <a:spcPts val="400"/>
              </a:spcAft>
              <a:defRPr sz="1400" b="0"/>
            </a:pPr>
            <a:endParaRPr sz="1600" dirty="0"/>
          </a:p>
          <a:p>
            <a:pPr>
              <a:spcAft>
                <a:spcPts val="400"/>
              </a:spcAft>
              <a:defRPr sz="1400" b="0"/>
            </a:pPr>
            <a:r>
              <a:rPr lang="en-IN" sz="1600" b="1" dirty="0"/>
              <a:t>1. Authentication</a:t>
            </a:r>
            <a:r>
              <a:rPr lang="en-IN" sz="1600" dirty="0"/>
              <a:t> — JWT-secured user access</a:t>
            </a:r>
            <a:br>
              <a:rPr lang="en-IN" sz="1600" dirty="0"/>
            </a:br>
            <a:r>
              <a:rPr lang="en-IN" sz="1600" b="1" dirty="0"/>
              <a:t>2. Discovery &amp; Acquisition</a:t>
            </a:r>
            <a:r>
              <a:rPr lang="en-IN" sz="1600" dirty="0"/>
              <a:t> — Detect devices / acquire forensic evidence</a:t>
            </a:r>
            <a:br>
              <a:rPr lang="en-IN" sz="1600" dirty="0"/>
            </a:br>
            <a:r>
              <a:rPr lang="en-IN" sz="1600" b="1" dirty="0"/>
              <a:t>3. Wipe &amp; Recovery Engine</a:t>
            </a:r>
            <a:r>
              <a:rPr lang="en-IN" sz="1600" dirty="0"/>
              <a:t> — 3-pass sanitization / scan, carve &amp; recover</a:t>
            </a:r>
            <a:br>
              <a:rPr lang="en-IN" sz="1600" dirty="0"/>
            </a:br>
            <a:r>
              <a:rPr lang="en-IN" sz="1600" b="1" dirty="0"/>
              <a:t>4. Verification &amp; Certification</a:t>
            </a:r>
            <a:r>
              <a:rPr lang="en-IN" sz="1600" dirty="0"/>
              <a:t> — SHA-256 + RSA + QR verification</a:t>
            </a:r>
            <a:br>
              <a:rPr lang="en-IN" sz="1600" dirty="0"/>
            </a:br>
            <a:r>
              <a:rPr lang="en-IN" sz="1600" b="1" dirty="0"/>
              <a:t>5. Audit &amp; Reporting</a:t>
            </a:r>
            <a:r>
              <a:rPr lang="en-IN" sz="1600" dirty="0"/>
              <a:t> — MongoDB + chain of custody + PDF/Excel reports</a:t>
            </a:r>
          </a:p>
          <a:p>
            <a:pPr>
              <a:spcAft>
                <a:spcPts val="400"/>
              </a:spcAft>
              <a:defRPr sz="1400" b="0"/>
            </a:pPr>
            <a:r>
              <a:rPr lang="en-IN" sz="1600" dirty="0"/>
              <a:t>6</a:t>
            </a:r>
            <a:r>
              <a:rPr sz="1600" dirty="0"/>
              <a:t>. </a:t>
            </a:r>
            <a:r>
              <a:rPr sz="1600" b="1" dirty="0"/>
              <a:t>Storage &amp; Verification </a:t>
            </a:r>
            <a:r>
              <a:rPr sz="1600" dirty="0"/>
              <a:t>— MongoDB audit records; verify by ID / QR</a:t>
            </a:r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D854990A-99A0-E70F-6FDE-FF91F9FA64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2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Innovatrix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0812AA-091D-EBB8-40A9-C05993AEF63B}"/>
              </a:ext>
            </a:extLst>
          </p:cNvPr>
          <p:cNvSpPr txBox="1"/>
          <p:nvPr/>
        </p:nvSpPr>
        <p:spPr>
          <a:xfrm>
            <a:off x="7652084" y="458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BA56B8-BB1C-4F9A-1440-C68A915C7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743" y="1095375"/>
            <a:ext cx="5967484" cy="51747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16504" y="1179965"/>
            <a:ext cx="311217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6491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1731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Team </a:t>
            </a:r>
            <a:r>
              <a:rPr sz="1400" b="1" dirty="0" err="1">
                <a:solidFill>
                  <a:schemeClr val="bg1"/>
                </a:solidFill>
              </a:rPr>
              <a:t>Innovatrix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68A425C-0DA9-7F55-9F0B-8A93F5E0D3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2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Innovatrix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42534-F310-1E87-5E3B-0EBF0DA8AB20}"/>
              </a:ext>
            </a:extLst>
          </p:cNvPr>
          <p:cNvSpPr txBox="1"/>
          <p:nvPr/>
        </p:nvSpPr>
        <p:spPr>
          <a:xfrm>
            <a:off x="6336631" y="1325409"/>
            <a:ext cx="4620126" cy="26161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/>
              <a:t>CHALLENGES / RISKS</a:t>
            </a:r>
          </a:p>
          <a:p>
            <a:pPr lvl="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SSD Wear-</a:t>
            </a:r>
            <a:r>
              <a:rPr lang="en-IN" sz="1600" b="1" dirty="0" err="1"/>
              <a:t>Leveling</a:t>
            </a:r>
            <a:r>
              <a:rPr lang="en-IN" sz="1600" dirty="0"/>
              <a:t> — Physical-cell sanitization limitation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Device Diversity</a:t>
            </a:r>
            <a:r>
              <a:rPr lang="en-IN" sz="1600" dirty="0"/>
              <a:t> — Hardware-specific erase requirements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Recovery Limits</a:t>
            </a:r>
            <a:r>
              <a:rPr lang="en-IN" sz="1600" dirty="0"/>
              <a:t> — Overwritten/fragmented files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 Integrity</a:t>
            </a:r>
            <a:r>
              <a:rPr lang="en-IN" sz="1600" dirty="0"/>
              <a:t> — Secure forensic preservation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Key Security</a:t>
            </a:r>
            <a:r>
              <a:rPr lang="en-IN" sz="1600" dirty="0"/>
              <a:t> — Protect certificates &amp; private keys</a:t>
            </a:r>
          </a:p>
          <a:p>
            <a:r>
              <a:rPr lang="en-US" sz="1600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9D089-A867-0213-623E-E669D7709FFD}"/>
              </a:ext>
            </a:extLst>
          </p:cNvPr>
          <p:cNvSpPr txBox="1"/>
          <p:nvPr/>
        </p:nvSpPr>
        <p:spPr>
          <a:xfrm>
            <a:off x="6336630" y="3865139"/>
            <a:ext cx="53331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b="1" dirty="0"/>
              <a:t>TARGET USERS</a:t>
            </a:r>
          </a:p>
          <a:p>
            <a:pPr lvl="0">
              <a:defRPr/>
            </a:pPr>
            <a:br>
              <a:rPr lang="en-IN" sz="1600" dirty="0"/>
            </a:br>
            <a:r>
              <a:rPr lang="en-IN" sz="1600" dirty="0"/>
              <a:t>• Enterprises and government organizations</a:t>
            </a:r>
            <a:br>
              <a:rPr lang="en-IN" sz="1600" dirty="0"/>
            </a:br>
            <a:r>
              <a:rPr lang="en-IN" sz="1600" dirty="0"/>
              <a:t>• IT asset recycling/refurbishment companies</a:t>
            </a:r>
            <a:br>
              <a:rPr lang="en-IN" sz="1600" dirty="0"/>
            </a:br>
            <a:r>
              <a:rPr lang="en-IN" sz="1600" dirty="0"/>
              <a:t>• Data </a:t>
            </a:r>
            <a:r>
              <a:rPr lang="en-IN" sz="1600" dirty="0" err="1"/>
              <a:t>centers</a:t>
            </a:r>
            <a:r>
              <a:rPr lang="en-IN" sz="1600" dirty="0"/>
              <a:t> and educational institutions</a:t>
            </a:r>
            <a:br>
              <a:rPr lang="en-IN" sz="1600" dirty="0"/>
            </a:br>
            <a:r>
              <a:rPr lang="en-IN" sz="1600" dirty="0"/>
              <a:t>• Organizations handling confidential data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F1969-288F-F87A-A09E-7108B4F6E53B}"/>
              </a:ext>
            </a:extLst>
          </p:cNvPr>
          <p:cNvSpPr txBox="1"/>
          <p:nvPr/>
        </p:nvSpPr>
        <p:spPr>
          <a:xfrm>
            <a:off x="885884" y="3629413"/>
            <a:ext cx="493382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br>
              <a:rPr lang="en-US" sz="1600" b="1" dirty="0"/>
            </a:br>
            <a:r>
              <a:rPr lang="en-US" b="1" dirty="0"/>
              <a:t>MITIGATION / FUTURE PATH</a:t>
            </a:r>
          </a:p>
          <a:p>
            <a:pPr lvl="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Device-Aware Sanitization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Multi-Standard Support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Advanced File Recovery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Hardened Chain of Custody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Blockchain-Backed Audit Trail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AI-Powered Compliance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5E0CC-1894-AB39-FA2F-9B865BBC9B1C}"/>
              </a:ext>
            </a:extLst>
          </p:cNvPr>
          <p:cNvSpPr txBox="1"/>
          <p:nvPr/>
        </p:nvSpPr>
        <p:spPr>
          <a:xfrm>
            <a:off x="834188" y="1322291"/>
            <a:ext cx="5333101" cy="236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/>
              <a:t>FEASIBILITY</a:t>
            </a:r>
          </a:p>
          <a:p>
            <a:pPr lvl="0"/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Proven Stack:</a:t>
            </a:r>
            <a:r>
              <a:rPr lang="en-IN" sz="1600" dirty="0"/>
              <a:t> React • Node.js • Python • MongoDB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Secure Core:</a:t>
            </a:r>
            <a:r>
              <a:rPr lang="en-IN" sz="1600" dirty="0"/>
              <a:t> JWT • SHA-256 • RSA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Agent-Based:</a:t>
            </a:r>
            <a:r>
              <a:rPr lang="en-IN" sz="1600" dirty="0"/>
              <a:t> Automated device discovery &amp; wipe execution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Dual Engine:</a:t>
            </a:r>
            <a:r>
              <a:rPr lang="en-IN" sz="1600" dirty="0"/>
              <a:t> Sanitization + Forensic Recovery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Prototype Validated:</a:t>
            </a:r>
            <a:r>
              <a:rPr lang="en-IN" sz="1600" dirty="0"/>
              <a:t> Login • Discovery • Wipe • Verification • Certificate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7452E-B933-347C-380F-496E7D95B42F}"/>
              </a:ext>
            </a:extLst>
          </p:cNvPr>
          <p:cNvSpPr txBox="1"/>
          <p:nvPr/>
        </p:nvSpPr>
        <p:spPr>
          <a:xfrm>
            <a:off x="3605982" y="589845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BUILDABLE NOW • SCALABLE NEXT • VERIFIABLE ALWAYS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Innovatrix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4181646" y="1294880"/>
            <a:ext cx="3550649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/>
            </a:pPr>
            <a:r>
              <a:rPr sz="1600" b="1" dirty="0"/>
              <a:t>BENEFITS</a:t>
            </a:r>
            <a:endParaRPr lang="en-US" sz="1600" b="1" dirty="0"/>
          </a:p>
          <a:p>
            <a:pPr>
              <a:spcAft>
                <a:spcPts val="400"/>
              </a:spcAft>
              <a:defRPr sz="1400" b="0"/>
            </a:pPr>
            <a:endParaRPr dirty="0"/>
          </a:p>
          <a:p>
            <a:pPr>
              <a:spcAft>
                <a:spcPts val="400"/>
              </a:spcAft>
              <a:defRPr sz="1400" b="0"/>
            </a:pPr>
            <a:r>
              <a:rPr b="1" dirty="0"/>
              <a:t>SECURITY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Reduces the risk of sensitive data remaining on recycled devices.</a:t>
            </a:r>
          </a:p>
          <a:p>
            <a:pPr>
              <a:spcAft>
                <a:spcPts val="400"/>
              </a:spcAft>
              <a:defRPr sz="1400" b="0"/>
            </a:pPr>
            <a:endParaRPr dirty="0"/>
          </a:p>
          <a:p>
            <a:pPr>
              <a:spcAft>
                <a:spcPts val="400"/>
              </a:spcAft>
              <a:defRPr sz="1400" b="0"/>
            </a:pPr>
            <a:r>
              <a:rPr b="1" dirty="0"/>
              <a:t>VERIFIABLE PROOF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SHA-256 evidence + RSA-signed certificate provides traceable proof.</a:t>
            </a:r>
          </a:p>
          <a:p>
            <a:pPr>
              <a:spcAft>
                <a:spcPts val="400"/>
              </a:spcAft>
              <a:defRPr sz="1400" b="0"/>
            </a:pPr>
            <a:endParaRPr dirty="0"/>
          </a:p>
          <a:p>
            <a:pPr>
              <a:spcAft>
                <a:spcPts val="400"/>
              </a:spcAft>
              <a:defRPr sz="1400" b="0"/>
            </a:pPr>
            <a:r>
              <a:rPr b="1" dirty="0"/>
              <a:t>AUDITABILITY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Centralized MongoDB records support transparent disposal workflows.</a:t>
            </a:r>
          </a:p>
          <a:p>
            <a:pPr>
              <a:spcAft>
                <a:spcPts val="400"/>
              </a:spcAft>
              <a:defRPr sz="1400" b="0"/>
            </a:pPr>
            <a:endParaRPr dirty="0"/>
          </a:p>
          <a:p>
            <a:pPr>
              <a:spcAft>
                <a:spcPts val="400"/>
              </a:spcAft>
              <a:defRPr sz="1400" b="0"/>
            </a:pPr>
            <a:r>
              <a:rPr b="1" dirty="0"/>
              <a:t>OPERATIONAL EFFICIENCY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Automatic discovery and real-time monitoring simplify sanitization.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01052" y="1305095"/>
            <a:ext cx="3416969" cy="44217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/>
            </a:pPr>
            <a:r>
              <a:rPr b="1" dirty="0"/>
              <a:t>PROTOTYPE TEST RESULTS</a:t>
            </a:r>
          </a:p>
          <a:p>
            <a:pPr>
              <a:spcAft>
                <a:spcPts val="400"/>
              </a:spcAft>
              <a:defRPr sz="1400" b="0"/>
            </a:pPr>
            <a:endParaRPr dirty="0"/>
          </a:p>
          <a:p>
            <a:pPr>
              <a:spcAft>
                <a:spcPts val="400"/>
              </a:spcAft>
              <a:defRPr sz="1400" b="0"/>
            </a:pPr>
            <a:r>
              <a:rPr dirty="0"/>
              <a:t>User Login              </a:t>
            </a:r>
            <a:r>
              <a:rPr lang="en-US" dirty="0"/>
              <a:t>          </a:t>
            </a:r>
            <a:r>
              <a:rPr dirty="0"/>
              <a:t>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Agent Registration     </a:t>
            </a:r>
            <a:r>
              <a:rPr lang="en-US" dirty="0"/>
              <a:t>    </a:t>
            </a:r>
            <a:r>
              <a:rPr dirty="0"/>
              <a:t> 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Drive Discovery     </a:t>
            </a:r>
            <a:r>
              <a:rPr lang="en-US" dirty="0"/>
              <a:t>      </a:t>
            </a:r>
            <a:r>
              <a:rPr dirty="0"/>
              <a:t>    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Start Wipe             </a:t>
            </a:r>
            <a:r>
              <a:rPr lang="en-US" dirty="0"/>
              <a:t>          </a:t>
            </a:r>
            <a:r>
              <a:rPr dirty="0"/>
              <a:t> 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Progress Monitoring     </a:t>
            </a:r>
            <a:r>
              <a:rPr lang="en-US" dirty="0"/>
              <a:t> </a:t>
            </a:r>
            <a:r>
              <a:rPr dirty="0"/>
              <a:t>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SHA-256 Verification    </a:t>
            </a:r>
            <a:r>
              <a:rPr lang="en-US" dirty="0"/>
              <a:t> </a:t>
            </a:r>
            <a:r>
              <a:rPr dirty="0"/>
              <a:t>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PDF Certificate         </a:t>
            </a:r>
            <a:r>
              <a:rPr lang="en-US" dirty="0"/>
              <a:t>       </a:t>
            </a:r>
            <a:r>
              <a:rPr dirty="0"/>
              <a:t>— PASS</a:t>
            </a:r>
          </a:p>
          <a:p>
            <a:pPr>
              <a:spcAft>
                <a:spcPts val="400"/>
              </a:spcAft>
              <a:defRPr sz="1400" b="0"/>
            </a:pPr>
            <a:r>
              <a:rPr dirty="0"/>
              <a:t>QR Verification         </a:t>
            </a:r>
            <a:r>
              <a:rPr lang="en-US" dirty="0"/>
              <a:t>       </a:t>
            </a:r>
            <a:r>
              <a:rPr dirty="0"/>
              <a:t>— PASS</a:t>
            </a:r>
          </a:p>
          <a:p>
            <a:pPr>
              <a:spcAft>
                <a:spcPts val="400"/>
              </a:spcAft>
              <a:defRPr sz="1400" b="0"/>
            </a:pPr>
            <a:endParaRPr b="1" dirty="0"/>
          </a:p>
          <a:p>
            <a:pPr>
              <a:spcAft>
                <a:spcPts val="400"/>
              </a:spcAft>
              <a:defRPr sz="1400" b="0"/>
            </a:pPr>
            <a:r>
              <a:rPr b="1" dirty="0"/>
              <a:t>OVERALL RESULT</a:t>
            </a:r>
            <a:endParaRPr lang="en-US" b="1" dirty="0"/>
          </a:p>
          <a:p>
            <a:pPr>
              <a:spcAft>
                <a:spcPts val="400"/>
              </a:spcAft>
              <a:defRPr sz="1400" b="0"/>
            </a:pPr>
            <a:endParaRPr b="1" dirty="0"/>
          </a:p>
          <a:p>
            <a:pPr algn="just">
              <a:spcAft>
                <a:spcPts val="400"/>
              </a:spcAft>
              <a:defRPr sz="1400" b="0"/>
            </a:pPr>
            <a:r>
              <a:rPr lang="en-US" dirty="0"/>
              <a:t>        </a:t>
            </a:r>
            <a:r>
              <a:rPr dirty="0"/>
              <a:t>Authentication, device discovery, wiping, verification and certificate generation completed successfully in the tested workflow.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50A4854-0119-05F0-2635-B072BA839C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2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Innovatrix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025B5-B940-2CF2-40A9-2115F6FA9390}"/>
              </a:ext>
            </a:extLst>
          </p:cNvPr>
          <p:cNvSpPr txBox="1"/>
          <p:nvPr/>
        </p:nvSpPr>
        <p:spPr>
          <a:xfrm>
            <a:off x="8095920" y="1305095"/>
            <a:ext cx="3550649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INNOVATION: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Trust Wipe converts data wiping from an invisible deletion process into a verifiable, auditable sanitization workflow using cryptographic evidence and digitally signed certificates.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Our current prototype focuses primarily on file-level sanitization and provides cryptographic evidence of the executed workflow. We recognize that SSD wear-</a:t>
            </a:r>
            <a:r>
              <a:rPr lang="en-IN" sz="1400" dirty="0" err="1"/>
              <a:t>leveling</a:t>
            </a:r>
            <a:r>
              <a:rPr lang="en-IN" sz="1400" dirty="0"/>
              <a:t> can require device-level secure erase or sanitize mechanisms, which is part of our planned enhancement.</a:t>
            </a:r>
          </a:p>
          <a:p>
            <a:endParaRPr lang="en-IN" sz="1400" dirty="0"/>
          </a:p>
          <a:p>
            <a:r>
              <a:rPr lang="en-IN" sz="1400" b="1" dirty="0"/>
              <a:t>TRUST:</a:t>
            </a:r>
          </a:p>
          <a:p>
            <a:endParaRPr lang="en-IN" sz="1400" dirty="0"/>
          </a:p>
          <a:p>
            <a:r>
              <a:rPr lang="en-IN" sz="1400" dirty="0"/>
              <a:t>Builds trust in safe reuse and recycling of IT assets, supporting responsible electronic waste reduction.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91200" y="1415935"/>
            <a:ext cx="4780548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br>
              <a:rPr b="1" dirty="0"/>
            </a:br>
            <a:r>
              <a:rPr b="1" dirty="0"/>
              <a:t>FUTURE RESEARCH DIRECTIONS</a:t>
            </a:r>
            <a:endParaRPr lang="en-US" b="1" dirty="0"/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br>
              <a:rPr dirty="0"/>
            </a:br>
            <a:r>
              <a:rPr dirty="0"/>
              <a:t>• DoD 5220.22-M and Gutmann wiping standards</a:t>
            </a:r>
            <a:br>
              <a:rPr dirty="0"/>
            </a:br>
            <a:r>
              <a:rPr dirty="0"/>
              <a:t>• Cloud-based certificate management</a:t>
            </a:r>
            <a:br>
              <a:rPr dirty="0"/>
            </a:br>
            <a:r>
              <a:rPr dirty="0"/>
              <a:t>• Blockchain-based certificate verification</a:t>
            </a:r>
            <a:br>
              <a:rPr dirty="0"/>
            </a:br>
            <a:r>
              <a:rPr dirty="0"/>
              <a:t>• AI-powered compliance monitoring</a:t>
            </a:r>
            <a:br>
              <a:rPr dirty="0"/>
            </a:br>
            <a:r>
              <a:rPr dirty="0"/>
              <a:t>• Mobile application for remote monitoring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 b="1" dirty="0">
                <a:solidFill>
                  <a:schemeClr val="bg1"/>
                </a:solidFill>
              </a:rPr>
              <a:t>Team </a:t>
            </a:r>
            <a:r>
              <a:rPr sz="1600" b="1" dirty="0" err="1">
                <a:solidFill>
                  <a:schemeClr val="bg1"/>
                </a:solidFill>
              </a:rPr>
              <a:t>Innovatrix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E1D9635-EF0B-B462-DE0A-0C9FCEF933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2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Innovatrix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FA0CF-F211-0E86-2FE4-9214845A62B8}"/>
              </a:ext>
            </a:extLst>
          </p:cNvPr>
          <p:cNvSpPr txBox="1"/>
          <p:nvPr/>
        </p:nvSpPr>
        <p:spPr>
          <a:xfrm>
            <a:off x="1267324" y="1665926"/>
            <a:ext cx="39142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REFERENCES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NIST SP 800-88 — Guidelines for Media Sanitization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SHA-256 / SHA-2 cryptographic hashing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RSA digital signatures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JWT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MongoDB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AAE7C4-9040-899C-B3C1-13443739FEB3}"/>
              </a:ext>
            </a:extLst>
          </p:cNvPr>
          <p:cNvSpPr txBox="1"/>
          <p:nvPr/>
        </p:nvSpPr>
        <p:spPr>
          <a:xfrm>
            <a:off x="1487906" y="4687359"/>
            <a:ext cx="43835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br>
              <a:rPr lang="en-US" dirty="0"/>
            </a:br>
            <a:r>
              <a:rPr lang="en-US" dirty="0"/>
              <a:t>LIVE DEMO</a:t>
            </a:r>
          </a:p>
          <a:p>
            <a:pPr lvl="0">
              <a:defRPr/>
            </a:pPr>
            <a:r>
              <a:rPr lang="en-US" dirty="0">
                <a:hlinkClick r:id="rId4"/>
              </a:rPr>
              <a:t>https://trust-wipe-forensic-recovery.vercel.app/</a:t>
            </a:r>
            <a:br>
              <a:rPr lang="en-US" dirty="0"/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070EA-41D2-E02B-B156-94DDA857818F}"/>
              </a:ext>
            </a:extLst>
          </p:cNvPr>
          <p:cNvSpPr txBox="1"/>
          <p:nvPr/>
        </p:nvSpPr>
        <p:spPr>
          <a:xfrm>
            <a:off x="5823284" y="501192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REPOSITORY</a:t>
            </a:r>
            <a:br>
              <a:rPr lang="en-US" dirty="0"/>
            </a:br>
            <a:r>
              <a:rPr lang="en-US" dirty="0">
                <a:hlinkClick r:id="rId5"/>
              </a:rPr>
              <a:t>https://github.com/MeenaTharshini/Trust_Wipe_Forensic_Recovery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7792</TotalTime>
  <Words>723</Words>
  <Application>Microsoft Office PowerPoint</Application>
  <PresentationFormat>Widescreen</PresentationFormat>
  <Paragraphs>141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TRUST WIPE – INTEGRATED SECURE DATA ERASURE &amp; ADVANCED FILE RECOVERY TOOL FOR DIGITAL FORENSICS AND DATA SANITIZATION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Meena Tharshini I</cp:lastModifiedBy>
  <cp:revision>174</cp:revision>
  <dcterms:created xsi:type="dcterms:W3CDTF">2013-12-12T18:46:50Z</dcterms:created>
  <dcterms:modified xsi:type="dcterms:W3CDTF">2026-09-03T07:01:48Z</dcterms:modified>
  <cp:category/>
</cp:coreProperties>
</file>